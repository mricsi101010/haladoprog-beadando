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719"/>
  </p:normalViewPr>
  <p:slideViewPr>
    <p:cSldViewPr snapToGrid="0">
      <p:cViewPr varScale="1">
        <p:scale>
          <a:sx n="120" d="100"/>
          <a:sy n="120" d="100"/>
        </p:scale>
        <p:origin x="2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EAB7394-2C16-2E24-91F2-AB03C1C294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6123021A-DEF1-5145-4D02-10954E1687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FD23EAD-B66B-4744-E5E0-86B4C3C52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01D47-43BF-1444-9278-9D937FE5BB2F}" type="datetimeFigureOut">
              <a:rPr lang="hu-HU" smtClean="0"/>
              <a:t>2025. 12. 04.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6DBDFEDA-2457-E15A-EF06-F790C3473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06C13FB-D647-4F64-0A62-FDDDEC26F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D9C0A-D80B-744D-B720-94C8073FEB9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69686811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E7D7815-050A-C0FD-85C2-3923CDBAA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242A622-E2C3-3F95-27CA-D436945B3C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78B9845-C4BE-502A-2760-24E40AF81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01D47-43BF-1444-9278-9D937FE5BB2F}" type="datetimeFigureOut">
              <a:rPr lang="hu-HU" smtClean="0"/>
              <a:t>2025. 12. 04.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1948C27-BF92-E847-45EC-9DD072EFA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20B1E05-8521-3C5D-59BD-4AF1F4496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D9C0A-D80B-744D-B720-94C8073FEB9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78620213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A5E072A-CA16-ED6C-4F2A-FBD1D0506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6DA93107-12E8-8943-E45E-A5B10C4704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6A7B973-1F01-274E-9C21-98E4985CB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01D47-43BF-1444-9278-9D937FE5BB2F}" type="datetimeFigureOut">
              <a:rPr lang="hu-HU" smtClean="0"/>
              <a:t>2025. 12. 04.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90E86A6-B63C-42CA-1B34-33035AFD4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1C4A76A-FF81-D0E8-FD50-B10CFDDB4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D9C0A-D80B-744D-B720-94C8073FEB9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87603457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C7CE775-4AE8-C028-3F53-B6D12BCB0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3E7E6B6-5611-38AD-F561-B375CDF5BA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F8CEE6BF-89FD-152E-658E-670212A270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02821CB0-95BC-3FA0-2045-E05E6CC5D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01D47-43BF-1444-9278-9D937FE5BB2F}" type="datetimeFigureOut">
              <a:rPr lang="hu-HU" smtClean="0"/>
              <a:t>2025. 12. 04.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7C90A26C-CB0C-C79E-0CD9-18E8C1A93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B4383655-57FB-ED2D-18F9-B70726FC5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D9C0A-D80B-744D-B720-94C8073FEB9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76271538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C29E150-6194-272C-5D36-FCF73BD6A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8556E4A4-58FC-A910-5107-02C32BFFD4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5DFC1B22-67A3-FC92-AE1B-5D7C948FCF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253C1E04-A256-7C1B-8F02-5DAA9ABE8D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70F6CCDA-6B1D-0C65-FEAC-7FE0134702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7C6B624A-33FB-FD4C-6D25-A682317B4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01D47-43BF-1444-9278-9D937FE5BB2F}" type="datetimeFigureOut">
              <a:rPr lang="hu-HU" smtClean="0"/>
              <a:t>2025. 12. 04.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C014C50F-28AE-B226-28E5-B16BFD62C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B21D2E03-5811-8825-A601-A49254F62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D9C0A-D80B-744D-B720-94C8073FEB9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42745213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C52C8E9-F243-0940-BEC1-53F510EDE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38181132-43D5-9FA8-EF94-616A66C83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01D47-43BF-1444-9278-9D937FE5BB2F}" type="datetimeFigureOut">
              <a:rPr lang="hu-HU" smtClean="0"/>
              <a:t>2025. 12. 04.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5C202708-CBE1-C2B7-EB44-5B2F4EE9F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F97131D2-581B-119B-60E3-552D72419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D9C0A-D80B-744D-B720-94C8073FEB9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14765728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AAA99D7B-98D0-3D06-B9C1-4D3667A88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01D47-43BF-1444-9278-9D937FE5BB2F}" type="datetimeFigureOut">
              <a:rPr lang="hu-HU" smtClean="0"/>
              <a:t>2025. 12. 04.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CE52F1B1-0378-1C1E-585E-DFC1B6893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BA143E8E-F64B-677F-5068-98BDA6DF6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D9C0A-D80B-744D-B720-94C8073FEB9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22858018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04EA554-96CC-3ACA-C96A-52539CEDD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FEF723B-BED0-AEFE-6DE5-52F2C55FD5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4C043AAB-DD31-0CF7-5874-E3352C5273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201E665A-9E21-7654-C1FE-98763F595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01D47-43BF-1444-9278-9D937FE5BB2F}" type="datetimeFigureOut">
              <a:rPr lang="hu-HU" smtClean="0"/>
              <a:t>2025. 12. 04.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34FB2897-C662-DE4D-9D03-E98985463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4E9FC625-1E06-5009-BB3C-D012AFE62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D9C0A-D80B-744D-B720-94C8073FEB9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3944699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7DA9AE8-D475-DED5-8392-1AC1304EF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5ECA423D-3CA2-F7EB-3EAE-D62E43DC1F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FF69249C-9546-279C-5D39-367375D1BC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D05DEDAB-EAB9-4AFC-24AB-69D332FA0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01D47-43BF-1444-9278-9D937FE5BB2F}" type="datetimeFigureOut">
              <a:rPr lang="hu-HU" smtClean="0"/>
              <a:t>2025. 12. 04.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59320A80-CA96-7D1C-80ED-A7DB2EB9C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040B1E72-2FBE-140E-550A-05F94F1FD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D9C0A-D80B-744D-B720-94C8073FEB9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79624120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50CB817-59ED-124A-06DB-7FA6AACCA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7FFC3FFB-515D-4AAD-5D01-9AB690D1C6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9CC8D53-D950-E3D1-AE3C-D661F2EA5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01D47-43BF-1444-9278-9D937FE5BB2F}" type="datetimeFigureOut">
              <a:rPr lang="hu-HU" smtClean="0"/>
              <a:t>2025. 12. 04.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43903FB-DFA1-C781-6069-D09575287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2C546D1-A09C-DCA7-3375-CF53738B1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D9C0A-D80B-744D-B720-94C8073FEB9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01104354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81B4C0BB-970B-8945-DC78-AEAA228DD7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7E6BCBEF-7F20-9187-FA23-F7877DD111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888F11E-59FA-7E05-B488-DEC1B9B54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01D47-43BF-1444-9278-9D937FE5BB2F}" type="datetimeFigureOut">
              <a:rPr lang="hu-HU" smtClean="0"/>
              <a:t>2025. 12. 04.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0EDD075-BCDB-1F14-9A8F-97244AD80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8911674-350B-9C08-45D8-9222804A1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D9C0A-D80B-744D-B720-94C8073FEB9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02681728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96112A5A-6A04-2D03-2D4B-DF03BF0BD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C1C79334-8466-2E8F-5D70-E9186C9EF8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2E7B753-52EC-099F-9A85-4786BCBE01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501D47-43BF-1444-9278-9D937FE5BB2F}" type="datetimeFigureOut">
              <a:rPr lang="hu-HU" smtClean="0"/>
              <a:t>2025. 12. 04.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4A302B6-1906-DC6E-B4B1-C0FAAF544B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D969AFB-4051-62EB-7A39-28BBC1E76E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6D9C0A-D80B-744D-B720-94C8073FEB9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50740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64E21947-2D99-272F-21A9-5DD33DFF44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hu-HU" sz="4800">
                <a:solidFill>
                  <a:srgbClr val="FFFFFF"/>
                </a:solidFill>
              </a:rPr>
              <a:t>Haladó programozás nagyfeladat dokumentáció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20486D35-668D-5CCB-EB08-F684125F79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hu-HU" dirty="0"/>
              <a:t>Mohácsi Richard Norbert</a:t>
            </a:r>
          </a:p>
        </p:txBody>
      </p:sp>
    </p:spTree>
    <p:extLst>
      <p:ext uri="{BB962C8B-B14F-4D97-AF65-F5344CB8AC3E}">
        <p14:creationId xmlns:p14="http://schemas.microsoft.com/office/powerpoint/2010/main" val="281777709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97061F4A-2906-AB61-143E-8BC76DC14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hu-HU" sz="4000">
                <a:solidFill>
                  <a:srgbClr val="FFFFFF"/>
                </a:solidFill>
              </a:rPr>
              <a:t>A program áttekintése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5DCAC3C-22CD-19FE-D3CD-DFF2407363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hu-HU" sz="1900" b="1" i="0" u="none" strike="noStrike">
                <a:effectLst/>
              </a:rPr>
              <a:t>A csoportmunka célja </a:t>
            </a:r>
            <a:r>
              <a:rPr lang="hu-HU" sz="1900" b="0" i="0" u="none" strike="noStrike">
                <a:effectLst/>
              </a:rPr>
              <a:t>egy olyan Python alapú alkalmazás létrehozása volt, amely képes képek módosítására parancssoros felületen keresztül. A program képes egyszerre több fényképet is szerkeszteni.</a:t>
            </a:r>
          </a:p>
          <a:p>
            <a:r>
              <a:rPr lang="hu-HU" sz="1900" b="1" i="0" u="none" strike="noStrike">
                <a:effectLst/>
              </a:rPr>
              <a:t>Főbb funkciók:</a:t>
            </a:r>
            <a:endParaRPr lang="hu-HU" sz="1900" b="0" i="0" u="none" strike="noStrike">
              <a:effectLst/>
            </a:endParaRPr>
          </a:p>
          <a:p>
            <a:pPr lvl="1"/>
            <a:r>
              <a:rPr lang="hu-HU" sz="1900" b="1" i="0" u="none" strike="noStrike">
                <a:effectLst/>
              </a:rPr>
              <a:t>Geometriai transzformációk:</a:t>
            </a:r>
            <a:r>
              <a:rPr lang="hu-HU" sz="1900" b="0" i="0" u="none" strike="noStrike">
                <a:effectLst/>
              </a:rPr>
              <a:t> Képek átméretezése, elforgatása tetszőleges szöggel, valamint képrészletek kivágása (crop).</a:t>
            </a:r>
          </a:p>
          <a:p>
            <a:pPr lvl="1"/>
            <a:r>
              <a:rPr lang="hu-HU" sz="1900" b="1" i="0" u="none" strike="noStrike">
                <a:effectLst/>
              </a:rPr>
              <a:t>Színkezelés:</a:t>
            </a:r>
            <a:r>
              <a:rPr lang="hu-HU" sz="1900" b="0" i="0" u="none" strike="noStrike">
                <a:effectLst/>
              </a:rPr>
              <a:t> Szürkeárnyalatos konverzió (grayscale), fényerő és kontraszt állítása.</a:t>
            </a:r>
          </a:p>
          <a:p>
            <a:pPr lvl="1"/>
            <a:r>
              <a:rPr lang="hu-HU" sz="1900" b="1" i="0" u="none" strike="noStrike">
                <a:effectLst/>
              </a:rPr>
              <a:t>Szűrők és effektek:</a:t>
            </a:r>
            <a:r>
              <a:rPr lang="hu-HU" sz="1900" b="0" i="0" u="none" strike="noStrike">
                <a:effectLst/>
              </a:rPr>
              <a:t> Élesítés (sharpen) funkció.</a:t>
            </a:r>
          </a:p>
          <a:p>
            <a:pPr lvl="1"/>
            <a:r>
              <a:rPr lang="hu-HU" sz="1900" b="1" i="0" u="none" strike="noStrike">
                <a:effectLst/>
              </a:rPr>
              <a:t>Vízjelezés:</a:t>
            </a:r>
            <a:r>
              <a:rPr lang="hu-HU" sz="1900" b="0" i="0" u="none" strike="noStrike">
                <a:effectLst/>
              </a:rPr>
              <a:t> Szöveg elhelyezése a képen választható pozícióban (sarkok), méretben és színben.</a:t>
            </a:r>
          </a:p>
          <a:p>
            <a:pPr lvl="1"/>
            <a:r>
              <a:rPr lang="hu-HU" sz="1900" b="1" i="0" u="none" strike="noStrike">
                <a:effectLst/>
              </a:rPr>
              <a:t>Fájlkezelés:</a:t>
            </a:r>
            <a:r>
              <a:rPr lang="hu-HU" sz="1900" b="0" i="0" u="none" strike="noStrike">
                <a:effectLst/>
              </a:rPr>
              <a:t> Kimeneti mappa automatikus létrehozása és az eredeti fájlok védelme (nem írjuk felül az eredetit).</a:t>
            </a:r>
          </a:p>
          <a:p>
            <a:endParaRPr lang="hu-HU" sz="1900"/>
          </a:p>
        </p:txBody>
      </p:sp>
    </p:spTree>
    <p:extLst>
      <p:ext uri="{BB962C8B-B14F-4D97-AF65-F5344CB8AC3E}">
        <p14:creationId xmlns:p14="http://schemas.microsoft.com/office/powerpoint/2010/main" val="2279168043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7AD15AA8-110A-38B7-611C-368E724C7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hu-HU" sz="4000" b="0" i="0" u="none" strike="noStrike">
                <a:solidFill>
                  <a:srgbClr val="FFFFFF"/>
                </a:solidFill>
                <a:effectLst/>
              </a:rPr>
              <a:t>A projekt felépítése és a felhasznált könyvtárak</a:t>
            </a:r>
            <a:endParaRPr lang="hu-HU" sz="4000">
              <a:solidFill>
                <a:srgbClr val="FFFFFF"/>
              </a:solidFill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C9FFFC7-7642-5CA1-B795-0E21D76A03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hu-HU" sz="1400" b="1" i="0" u="none" strike="noStrike">
                <a:effectLst/>
              </a:rPr>
              <a:t>Szöveges tartalom:</a:t>
            </a:r>
            <a:r>
              <a:rPr lang="hu-HU" sz="1400" b="0" i="0" u="none" strike="noStrike">
                <a:effectLst/>
              </a:rPr>
              <a:t> A fejlesztés során törekedtünk a </a:t>
            </a:r>
            <a:r>
              <a:rPr lang="hu-HU" sz="1400"/>
              <a:t>követhető </a:t>
            </a:r>
            <a:r>
              <a:rPr lang="hu-HU" sz="1400" b="0" i="0" u="none" strike="noStrike">
                <a:effectLst/>
              </a:rPr>
              <a:t>és a logikus fájlszerkezetre. A projekt két fő Python fájlból és a hozzájuk tartozó adatkönyvtárakból áll.</a:t>
            </a:r>
          </a:p>
          <a:p>
            <a:r>
              <a:rPr lang="hu-HU" sz="1400" b="1" i="0" u="none" strike="noStrike">
                <a:effectLst/>
              </a:rPr>
              <a:t>Könyvtárszerkezet:</a:t>
            </a:r>
            <a:endParaRPr lang="hu-HU" sz="1400" b="0" i="0" u="none" strike="noStrike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hu-HU" sz="1400" b="1" i="0" u="none" strike="noStrike">
                <a:effectLst/>
              </a:rPr>
              <a:t>main.py:</a:t>
            </a:r>
            <a:r>
              <a:rPr lang="hu-HU" sz="1400" b="0" i="0" u="none" strike="noStrike">
                <a:effectLst/>
              </a:rPr>
              <a:t> A fő belépési pont, ez kezeli a felhasználóval való kommunikációt.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sz="1400" b="1" i="0" u="none" strike="noStrike">
                <a:effectLst/>
              </a:rPr>
              <a:t>processor.py:</a:t>
            </a:r>
            <a:r>
              <a:rPr lang="hu-HU" sz="1400" b="0" i="0" u="none" strike="noStrike">
                <a:effectLst/>
              </a:rPr>
              <a:t> A háttérlogikát tartalmazza, itt történik a képek tényleges módosítása.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sz="1400" b="1" i="0" u="none" strike="noStrike">
                <a:effectLst/>
              </a:rPr>
              <a:t>kepek_bemenet:</a:t>
            </a:r>
            <a:r>
              <a:rPr lang="hu-HU" sz="1400" b="0" i="0" u="none" strike="noStrike">
                <a:effectLst/>
              </a:rPr>
              <a:t> A forrásfájlok tárolási helye.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sz="1400" b="1" i="0" u="none" strike="noStrike">
                <a:effectLst/>
              </a:rPr>
              <a:t>kepek_kimenet:</a:t>
            </a:r>
            <a:r>
              <a:rPr lang="hu-HU" sz="1400" b="0" i="0" u="none" strike="noStrike">
                <a:effectLst/>
              </a:rPr>
              <a:t> A program ide menti a módosított képeket.</a:t>
            </a:r>
          </a:p>
          <a:p>
            <a:r>
              <a:rPr lang="hu-HU" sz="1400" b="1" i="0" u="none" strike="noStrike">
                <a:effectLst/>
              </a:rPr>
              <a:t>Technikai háttér:</a:t>
            </a:r>
            <a:r>
              <a:rPr lang="hu-HU" sz="1400" b="0" i="0" u="none" strike="noStrike">
                <a:effectLst/>
              </a:rPr>
              <a:t> A program a Python egyik legnépszerűbb képkezelő könyvtárára, a </a:t>
            </a:r>
            <a:r>
              <a:rPr lang="hu-HU" sz="1400" b="1" i="0" u="none" strike="noStrike">
                <a:effectLst/>
              </a:rPr>
              <a:t>Pillow-ra (PIL)</a:t>
            </a:r>
            <a:r>
              <a:rPr lang="hu-HU" sz="1400" b="0" i="0" u="none" strike="noStrike">
                <a:effectLst/>
              </a:rPr>
              <a:t> épül.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sz="1400" b="0" i="0" u="none" strike="noStrike">
                <a:effectLst/>
              </a:rPr>
              <a:t>Használt modulok: Image (betöltés/mentés), ImageEnhance (fényerő/kontraszt), ImageFilter (szűrők), ImageDrawés ImageFont (szövegírás).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sz="1400" b="0" i="0" u="none" strike="noStrike">
                <a:effectLst/>
              </a:rPr>
              <a:t>Az operációs rendszerrel való fájlkezelést az os beépített modul végzi.</a:t>
            </a:r>
          </a:p>
          <a:p>
            <a:endParaRPr lang="hu-HU" sz="1400"/>
          </a:p>
        </p:txBody>
      </p:sp>
    </p:spTree>
    <p:extLst>
      <p:ext uri="{BB962C8B-B14F-4D97-AF65-F5344CB8AC3E}">
        <p14:creationId xmlns:p14="http://schemas.microsoft.com/office/powerpoint/2010/main" val="1963309335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8006A63-5D9D-5830-4E14-421F284D9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hu-HU" sz="4000" b="0" i="0" u="none" strike="noStrike">
                <a:solidFill>
                  <a:srgbClr val="FFFFFF"/>
                </a:solidFill>
                <a:effectLst/>
              </a:rPr>
              <a:t>Felhasználói interakció és konfiguráció</a:t>
            </a:r>
            <a:endParaRPr lang="hu-HU" sz="4000">
              <a:solidFill>
                <a:srgbClr val="FFFFFF"/>
              </a:solidFill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DB705B0-B32D-1789-2F00-77BDDC11E7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hu-HU" sz="2000" b="1" i="0" u="none" strike="noStrike">
                <a:effectLst/>
              </a:rPr>
              <a:t>Szöveges tartalom:</a:t>
            </a:r>
            <a:r>
              <a:rPr lang="hu-HU" sz="2000" b="0" i="0" u="none" strike="noStrike">
                <a:effectLst/>
              </a:rPr>
              <a:t> A main.py felelős azért, hogy bekérje a felhasználótól a módosítási paramétereket. Ezt a get_config() függvény valósítja meg.</a:t>
            </a:r>
          </a:p>
          <a:p>
            <a:r>
              <a:rPr lang="hu-HU" sz="2000" b="1" i="0" u="none" strike="noStrike">
                <a:effectLst/>
              </a:rPr>
              <a:t>Működési elv:</a:t>
            </a:r>
            <a:endParaRPr lang="hu-HU" sz="2000" b="0" i="0" u="none" strike="noStrike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hu-HU" sz="2000" b="0" i="0" u="none" strike="noStrike">
                <a:effectLst/>
              </a:rPr>
              <a:t>A program kérdéseket tesz fel a konzolon (pl. "Legyen szurke?", "Forgatas fokban?").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sz="2000" b="0" i="0" u="none" strike="noStrike">
                <a:effectLst/>
              </a:rPr>
              <a:t>A beérkező válaszokat ellenőrzi, és megfelelő típusra alakítja (pl. szöveget számmá, az "igen" választ logikai igaz értékké).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sz="2000" b="0" i="0" u="none" strike="noStrike">
                <a:effectLst/>
              </a:rPr>
              <a:t>Az összes beállítást egyetlen Python szótárba (config dictionary) gyűjti össze.</a:t>
            </a:r>
          </a:p>
          <a:p>
            <a:r>
              <a:rPr lang="hu-HU" sz="2000" b="1" i="0" u="none" strike="noStrike">
                <a:effectLst/>
              </a:rPr>
              <a:t>Miért hasznos ez?</a:t>
            </a:r>
            <a:r>
              <a:rPr lang="hu-HU" sz="2000" b="0" i="0" u="none" strike="noStrike">
                <a:effectLst/>
              </a:rPr>
              <a:t> Ezzel a megoldással a beállítások könnyen átadhatók a feldolgozó függvényeknek anélkül, hogy tucatnyi külön paramétert kellene kezelnünk minden függvényhívásnál.</a:t>
            </a:r>
          </a:p>
          <a:p>
            <a:endParaRPr lang="hu-HU" sz="2000"/>
          </a:p>
        </p:txBody>
      </p:sp>
    </p:spTree>
    <p:extLst>
      <p:ext uri="{BB962C8B-B14F-4D97-AF65-F5344CB8AC3E}">
        <p14:creationId xmlns:p14="http://schemas.microsoft.com/office/powerpoint/2010/main" val="2487973871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A06F3825-4046-4124-C7CD-4DA891D19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hu-HU" sz="4000" b="0" i="0" u="none" strike="noStrike">
                <a:solidFill>
                  <a:srgbClr val="FFFFFF"/>
                </a:solidFill>
                <a:effectLst/>
              </a:rPr>
              <a:t>A fő vezérlő logika</a:t>
            </a:r>
            <a:endParaRPr lang="hu-HU" sz="4000">
              <a:solidFill>
                <a:srgbClr val="FFFFFF"/>
              </a:solidFill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196004E-41A2-D885-A29E-C14E192F1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hu-HU" sz="2000" b="1" i="0" u="none" strike="noStrike">
                <a:effectLst/>
              </a:rPr>
              <a:t>Szöveges tartalom:</a:t>
            </a:r>
            <a:r>
              <a:rPr lang="hu-HU" sz="2000" b="0" i="0" u="none" strike="noStrike">
                <a:effectLst/>
              </a:rPr>
              <a:t> A main() függvény a program "agya", amely eldönti, hogy milyen módban fusson az alkalmazás.</a:t>
            </a:r>
          </a:p>
          <a:p>
            <a:r>
              <a:rPr lang="hu-HU" sz="2000" b="1" i="0" u="none" strike="noStrike">
                <a:effectLst/>
              </a:rPr>
              <a:t>A három feldolgozási mód:</a:t>
            </a:r>
            <a:endParaRPr lang="hu-HU" sz="2000" b="0" i="0" u="none" strike="noStrike">
              <a:effectLst/>
            </a:endParaRPr>
          </a:p>
          <a:p>
            <a:pPr>
              <a:buFont typeface="+mj-lt"/>
              <a:buAutoNum type="arabicPeriod"/>
            </a:pPr>
            <a:r>
              <a:rPr lang="hu-HU" sz="2000" b="1" i="0" u="none" strike="noStrike">
                <a:effectLst/>
              </a:rPr>
              <a:t>Egy kép:</a:t>
            </a:r>
            <a:r>
              <a:rPr lang="hu-HU" sz="2000" b="0" i="0" u="none" strike="noStrike">
                <a:effectLst/>
              </a:rPr>
              <a:t> Bekéri a fájl elérési útját, és meghívja rá a modify_image függvényt.</a:t>
            </a:r>
          </a:p>
          <a:p>
            <a:pPr>
              <a:buFont typeface="+mj-lt"/>
              <a:buAutoNum type="arabicPeriod"/>
            </a:pPr>
            <a:r>
              <a:rPr lang="hu-HU" sz="2000" b="1" i="0" u="none" strike="noStrike">
                <a:effectLst/>
              </a:rPr>
              <a:t>Több kép:</a:t>
            </a:r>
            <a:r>
              <a:rPr lang="hu-HU" sz="2000" b="0" i="0" u="none" strike="noStrike">
                <a:effectLst/>
              </a:rPr>
              <a:t> Egy vesszővel elválasztott listát vár a felhasználótól, amit feldarabol, majd a process_multiple_images segítségével végigmegy rajtuk.</a:t>
            </a:r>
          </a:p>
          <a:p>
            <a:pPr>
              <a:buFont typeface="+mj-lt"/>
              <a:buAutoNum type="arabicPeriod"/>
            </a:pPr>
            <a:r>
              <a:rPr lang="hu-HU" sz="2000" b="1" i="0" u="none" strike="noStrike">
                <a:effectLst/>
              </a:rPr>
              <a:t>Mappa:</a:t>
            </a:r>
            <a:r>
              <a:rPr lang="hu-HU" sz="2000" b="0" i="0" u="none" strike="noStrike">
                <a:effectLst/>
              </a:rPr>
              <a:t> Egy teljes könyvtár nevét kéri be, és átadja a process_folder függvénynek.</a:t>
            </a:r>
          </a:p>
          <a:p>
            <a:r>
              <a:rPr lang="hu-HU" sz="2000" b="0" i="0" u="none" strike="noStrike">
                <a:effectLst/>
              </a:rPr>
              <a:t>A kód **config szintaxis használatával bontja ki a korábban létrehozott beállítási szótárat, így dinamikusan adja át a paramétereket a feldolgozó modulnak.</a:t>
            </a:r>
          </a:p>
          <a:p>
            <a:endParaRPr lang="hu-HU" sz="2000"/>
          </a:p>
        </p:txBody>
      </p:sp>
    </p:spTree>
    <p:extLst>
      <p:ext uri="{BB962C8B-B14F-4D97-AF65-F5344CB8AC3E}">
        <p14:creationId xmlns:p14="http://schemas.microsoft.com/office/powerpoint/2010/main" val="585654655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F12C197E-2020-CCE8-7942-C3EBBF4E5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hu-HU" sz="4000" b="0" i="0" u="none" strike="noStrike">
                <a:solidFill>
                  <a:srgbClr val="FFFFFF"/>
                </a:solidFill>
                <a:effectLst/>
              </a:rPr>
              <a:t>A képmódosító motor</a:t>
            </a:r>
            <a:endParaRPr lang="hu-HU" sz="4000">
              <a:solidFill>
                <a:srgbClr val="FFFFFF"/>
              </a:solidFill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54E5048-FB76-DD86-5034-6D5F58DFA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hu-HU" sz="1700" b="1" i="0" u="none" strike="noStrike">
                <a:effectLst/>
              </a:rPr>
              <a:t>Szöveges tartalom:</a:t>
            </a:r>
            <a:r>
              <a:rPr lang="hu-HU" sz="1700" b="0" i="0" u="none" strike="noStrike">
                <a:effectLst/>
              </a:rPr>
              <a:t> A processor.py fájlban található modify_image függvény végzi a munka oroszlánrészét. Ez a függvény nyitja meg a képet és hajtja végre rajta a kért módosításokat sorrendben.</a:t>
            </a:r>
          </a:p>
          <a:p>
            <a:r>
              <a:rPr lang="hu-HU" sz="1700" b="1" i="0" u="none" strike="noStrike">
                <a:effectLst/>
              </a:rPr>
              <a:t>A feldolgozási lánc:</a:t>
            </a:r>
            <a:endParaRPr lang="hu-HU" sz="1700" b="0" i="0" u="none" strike="noStrike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hu-HU" sz="1700" b="1" i="0" u="none" strike="noStrike">
                <a:effectLst/>
              </a:rPr>
              <a:t>Megnyitás:</a:t>
            </a:r>
            <a:r>
              <a:rPr lang="hu-HU" sz="1700" b="0" i="0" u="none" strike="noStrike">
                <a:effectLst/>
              </a:rPr>
              <a:t> Image.open() környezetkezelővel (with statement), ami biztosítja a fájl helyes lezárását.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sz="1700" b="1" i="0" u="none" strike="noStrike">
                <a:effectLst/>
              </a:rPr>
              <a:t>Feltételes módosítások:</a:t>
            </a:r>
            <a:r>
              <a:rPr lang="hu-HU" sz="1700" b="0" i="0" u="none" strike="noStrike">
                <a:effectLst/>
              </a:rPr>
              <a:t> Csak akkor hajt végre egy műveletet, ha az szerepel a beállításokban (pl. ha a rotate_angle nem 0).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sz="1700" b="1" i="0" u="none" strike="noStrike">
                <a:effectLst/>
              </a:rPr>
              <a:t>Sorrend:</a:t>
            </a:r>
            <a:r>
              <a:rPr lang="hu-HU" sz="1700" b="0" i="0" u="none" strike="noStrike">
                <a:effectLst/>
              </a:rPr>
              <a:t> Először a geometriai változtatások történnek (méretezés, vágás), utána a színmanipulációk, végül a feliratozás.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sz="1700" b="1" i="0" u="none" strike="noStrike">
                <a:effectLst/>
              </a:rPr>
              <a:t>Mentés:</a:t>
            </a:r>
            <a:r>
              <a:rPr lang="hu-HU" sz="1700" b="0" i="0" u="none" strike="noStrike">
                <a:effectLst/>
              </a:rPr>
              <a:t> A kimeneti fájl nevét automatikusan generálja a _modositott utótaggal, és létrehozza a célmappát, ha az még nem létezne.</a:t>
            </a:r>
          </a:p>
          <a:p>
            <a:endParaRPr lang="hu-HU" sz="1700"/>
          </a:p>
        </p:txBody>
      </p:sp>
    </p:spTree>
    <p:extLst>
      <p:ext uri="{BB962C8B-B14F-4D97-AF65-F5344CB8AC3E}">
        <p14:creationId xmlns:p14="http://schemas.microsoft.com/office/powerpoint/2010/main" val="1574685896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F30F3415-009A-DDF6-1BFD-3643849E7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hu-HU" sz="4000" b="0" i="0" u="none" strike="noStrike">
                <a:solidFill>
                  <a:srgbClr val="FFFFFF"/>
                </a:solidFill>
                <a:effectLst/>
              </a:rPr>
              <a:t>Szövegezés és tömeges feldolgozás</a:t>
            </a:r>
            <a:endParaRPr lang="hu-HU" sz="4000">
              <a:solidFill>
                <a:srgbClr val="FFFFFF"/>
              </a:solidFill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F8DB88D-59C3-2F0C-8336-6A1EFD0BA5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hu-HU" sz="1700" b="1" i="0" u="none" strike="noStrike">
                <a:effectLst/>
              </a:rPr>
              <a:t>Szöveges tartalom:</a:t>
            </a:r>
            <a:r>
              <a:rPr lang="hu-HU" sz="1700" b="0" i="0" u="none" strike="noStrike">
                <a:effectLst/>
              </a:rPr>
              <a:t> A processor.py tartalmazza a segédfüggvényeket is, amelyek a speciálisabb feladatokat látják el.</a:t>
            </a:r>
          </a:p>
          <a:p>
            <a:r>
              <a:rPr lang="hu-HU" sz="1700" b="1" i="0" u="none" strike="noStrike">
                <a:effectLst/>
              </a:rPr>
              <a:t>Szöveg elhelyezése (add_text):</a:t>
            </a:r>
            <a:endParaRPr lang="hu-HU" sz="1700" b="0" i="0" u="none" strike="noStrike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hu-HU" sz="1700" b="0" i="0" u="none" strike="noStrike">
                <a:effectLst/>
              </a:rPr>
              <a:t>A szöveg méretét a textbbox metódussal számoljuk ki, így pontosan meg tudjuk határozni a helyét.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sz="1700" b="0" i="0" u="none" strike="noStrike">
                <a:effectLst/>
              </a:rPr>
              <a:t>A pozicionálás (bal felül, jobb alul, stb.) koordináta-számítással történik a kép és a szöveg méretei alapján.</a:t>
            </a:r>
          </a:p>
          <a:p>
            <a:r>
              <a:rPr lang="hu-HU" sz="1700" b="1" i="0" u="none" strike="noStrike">
                <a:effectLst/>
              </a:rPr>
              <a:t>Mappák kezelése (process_folder):</a:t>
            </a:r>
            <a:endParaRPr lang="hu-HU" sz="1700" b="0" i="0" u="none" strike="noStrike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hu-HU" sz="1700" b="0" i="0" u="none" strike="noStrike">
                <a:effectLst/>
              </a:rPr>
              <a:t>A függvény végigiterál a megadott mappa tartalmán (os.listdir).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sz="1700" b="0" i="0" u="none" strike="noStrike">
                <a:effectLst/>
              </a:rPr>
              <a:t>Szűrést végez a kiterjesztés alapján: csak a támogatott formátumokat (jpg, png, bmp) veszi figyelembe, így elkerüli a hibákat, ha a mappában más típusú fájlok is vannak.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sz="1700" b="0" i="0" u="none" strike="noStrike">
                <a:effectLst/>
              </a:rPr>
              <a:t>Minden talált képre külön meghívja a már bemutatott modify_image függvényt.</a:t>
            </a:r>
          </a:p>
          <a:p>
            <a:endParaRPr lang="hu-HU" sz="1700"/>
          </a:p>
        </p:txBody>
      </p:sp>
    </p:spTree>
    <p:extLst>
      <p:ext uri="{BB962C8B-B14F-4D97-AF65-F5344CB8AC3E}">
        <p14:creationId xmlns:p14="http://schemas.microsoft.com/office/powerpoint/2010/main" val="2021520031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D3707AD-8261-4357-9C64-EEC41E832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5" y="-427"/>
            <a:ext cx="6086683" cy="6858428"/>
          </a:xfrm>
          <a:prstGeom prst="rect">
            <a:avLst/>
          </a:prstGeom>
          <a:gradFill>
            <a:gsLst>
              <a:gs pos="0">
                <a:srgbClr val="000000">
                  <a:alpha val="53000"/>
                </a:srgbClr>
              </a:gs>
              <a:gs pos="82000">
                <a:schemeClr val="accent1">
                  <a:lumMod val="75000"/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4" y="498142"/>
            <a:ext cx="12191999" cy="6359430"/>
          </a:xfrm>
          <a:prstGeom prst="rect">
            <a:avLst/>
          </a:prstGeom>
          <a:gradFill>
            <a:gsLst>
              <a:gs pos="13000">
                <a:schemeClr val="accent1">
                  <a:lumMod val="75000"/>
                  <a:alpha val="39000"/>
                </a:schemeClr>
              </a:gs>
              <a:gs pos="100000">
                <a:srgbClr val="000000">
                  <a:alpha val="32000"/>
                </a:srgbClr>
              </a:gs>
            </a:gsLst>
            <a:lin ang="12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-428"/>
            <a:ext cx="6096001" cy="6858000"/>
          </a:xfrm>
          <a:prstGeom prst="rect">
            <a:avLst/>
          </a:prstGeom>
          <a:gradFill>
            <a:gsLst>
              <a:gs pos="13000">
                <a:srgbClr val="000000">
                  <a:alpha val="39000"/>
                </a:srgbClr>
              </a:gs>
              <a:gs pos="99000">
                <a:schemeClr val="accent1">
                  <a:lumMod val="50000"/>
                  <a:alpha val="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1B01BE8-EBAB-4286-84CC-EC07C7F957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0" cy="6400370"/>
          </a:xfrm>
          <a:prstGeom prst="rect">
            <a:avLst/>
          </a:prstGeom>
          <a:gradFill>
            <a:gsLst>
              <a:gs pos="0">
                <a:srgbClr val="000000">
                  <a:alpha val="70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3">
            <a:extLst>
              <a:ext uri="{FF2B5EF4-FFF2-40B4-BE49-F238E27FC236}">
                <a16:creationId xmlns:a16="http://schemas.microsoft.com/office/drawing/2014/main" id="{B810725C-984E-4EC2-A5FA-A193878CB8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59729" y="-716753"/>
            <a:ext cx="4893880" cy="10255626"/>
          </a:xfrm>
          <a:custGeom>
            <a:avLst/>
            <a:gdLst>
              <a:gd name="connsiteX0" fmla="*/ 2065105 w 2065105"/>
              <a:gd name="connsiteY0" fmla="*/ 0 h 4139967"/>
              <a:gd name="connsiteX1" fmla="*/ 2065105 w 2065105"/>
              <a:gd name="connsiteY1" fmla="*/ 4139967 h 4139967"/>
              <a:gd name="connsiteX2" fmla="*/ 1858573 w 2065105"/>
              <a:gd name="connsiteY2" fmla="*/ 4129538 h 4139967"/>
              <a:gd name="connsiteX3" fmla="*/ 0 w 2065105"/>
              <a:gd name="connsiteY3" fmla="*/ 2069983 h 4139967"/>
              <a:gd name="connsiteX4" fmla="*/ 1858573 w 2065105"/>
              <a:gd name="connsiteY4" fmla="*/ 10428 h 4139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65105" h="4139967">
                <a:moveTo>
                  <a:pt x="2065105" y="0"/>
                </a:moveTo>
                <a:lnTo>
                  <a:pt x="2065105" y="4139967"/>
                </a:lnTo>
                <a:lnTo>
                  <a:pt x="1858573" y="4129538"/>
                </a:lnTo>
                <a:cubicBezTo>
                  <a:pt x="814640" y="4023521"/>
                  <a:pt x="0" y="3141887"/>
                  <a:pt x="0" y="2069983"/>
                </a:cubicBezTo>
                <a:cubicBezTo>
                  <a:pt x="0" y="998079"/>
                  <a:pt x="814640" y="116446"/>
                  <a:pt x="1858573" y="10428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chemeClr val="accent1">
                  <a:alpha val="23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F811B3CB-E118-5DFC-443E-2FB28BB59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2199" y="3115264"/>
            <a:ext cx="7457441" cy="286388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Köszönjük a figyelmet!</a:t>
            </a:r>
          </a:p>
        </p:txBody>
      </p:sp>
    </p:spTree>
    <p:extLst>
      <p:ext uri="{BB962C8B-B14F-4D97-AF65-F5344CB8AC3E}">
        <p14:creationId xmlns:p14="http://schemas.microsoft.com/office/powerpoint/2010/main" val="396261969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751</Words>
  <Application>Microsoft Macintosh PowerPoint</Application>
  <PresentationFormat>Szélesvásznú</PresentationFormat>
  <Paragraphs>51</Paragraphs>
  <Slides>8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Office-téma</vt:lpstr>
      <vt:lpstr>Haladó programozás nagyfeladat dokumentáció</vt:lpstr>
      <vt:lpstr>A program áttekintése</vt:lpstr>
      <vt:lpstr>A projekt felépítése és a felhasznált könyvtárak</vt:lpstr>
      <vt:lpstr>Felhasználói interakció és konfiguráció</vt:lpstr>
      <vt:lpstr>A fő vezérlő logika</vt:lpstr>
      <vt:lpstr>A képmódosító motor</vt:lpstr>
      <vt:lpstr>Szövegezés és tömeges feldolgozás</vt:lpstr>
      <vt:lpstr>Köszönjük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Haladó programozás nagyfeladat dokumentáció</dc:title>
  <dc:creator>Czégány Viktor</dc:creator>
  <cp:lastModifiedBy>Czégány Viktor</cp:lastModifiedBy>
  <cp:revision>2</cp:revision>
  <dcterms:created xsi:type="dcterms:W3CDTF">2025-12-03T23:12:57Z</dcterms:created>
  <dcterms:modified xsi:type="dcterms:W3CDTF">2025-12-03T23:40:40Z</dcterms:modified>
</cp:coreProperties>
</file>